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3a6e369ae54838" /><Relationship Type="http://schemas.openxmlformats.org/officeDocument/2006/relationships/extended-properties" Target="/docProps/app.xml" Id="R6f5ea6575fe44c98" /><Relationship Type="http://schemas.openxmlformats.org/officeDocument/2006/relationships/officeDocument" Target="/ppt/presentation.xml" Id="R7b8dee9686c94c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942d9e78a14622"/>
  </p:sldMasterIdLst>
  <p:notesMasterIdLst>
    <p:notesMasterId xmlns:r="http://schemas.openxmlformats.org/officeDocument/2006/relationships" r:id="Rd187f9f74d9b496b"/>
  </p:notesMasterIdLst>
  <p:sldIdLst>
    <p:sldId xmlns:r="http://schemas.openxmlformats.org/officeDocument/2006/relationships" id="256" r:id="R31016ff4573a46d5"/>
    <p:sldId xmlns:r="http://schemas.openxmlformats.org/officeDocument/2006/relationships" id="257" r:id="Rcb24bd11b7a94534"/>
    <p:sldId xmlns:r="http://schemas.openxmlformats.org/officeDocument/2006/relationships" id="258" r:id="R1b37aa652ecb4132"/>
    <p:sldId xmlns:r="http://schemas.openxmlformats.org/officeDocument/2006/relationships" id="259" r:id="Rd0813d49fc4e4e92"/>
    <p:sldId xmlns:r="http://schemas.openxmlformats.org/officeDocument/2006/relationships" id="260" r:id="Rc539e2171f544a67"/>
    <p:sldId xmlns:r="http://schemas.openxmlformats.org/officeDocument/2006/relationships" id="261" r:id="R94bc9ada16a04d7f"/>
    <p:sldId xmlns:r="http://schemas.openxmlformats.org/officeDocument/2006/relationships" id="262" r:id="R824c545d13f74671"/>
    <p:sldId xmlns:r="http://schemas.openxmlformats.org/officeDocument/2006/relationships" id="263" r:id="Ra9dd65b187264a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eec1779752479e" /><Relationship Type="http://schemas.openxmlformats.org/officeDocument/2006/relationships/slideMaster" Target="/ppt/slideMasters/slideMaster1.xml" Id="Rd6942d9e78a14622" /><Relationship Type="http://schemas.openxmlformats.org/officeDocument/2006/relationships/notesMaster" Target="/ppt/notesMasters/notesMaster1.xml" Id="Rd187f9f74d9b496b" /><Relationship Type="http://schemas.openxmlformats.org/officeDocument/2006/relationships/presProps" Target="/ppt/presProps.xml" Id="Rba7de889def14910" /><Relationship Type="http://schemas.openxmlformats.org/officeDocument/2006/relationships/tableStyles" Target="/ppt/tableStyles.xml" Id="R4cb93d7b66c643a2" /><Relationship Type="http://schemas.openxmlformats.org/officeDocument/2006/relationships/slide" Target="/ppt/slides/slide1.xml" Id="R31016ff4573a46d5" /><Relationship Type="http://schemas.openxmlformats.org/officeDocument/2006/relationships/slide" Target="/ppt/slides/slide2.xml" Id="Rcb24bd11b7a94534" /><Relationship Type="http://schemas.openxmlformats.org/officeDocument/2006/relationships/slide" Target="/ppt/slides/slide3.xml" Id="R1b37aa652ecb4132" /><Relationship Type="http://schemas.openxmlformats.org/officeDocument/2006/relationships/slide" Target="/ppt/slides/slide4.xml" Id="Rd0813d49fc4e4e92" /><Relationship Type="http://schemas.openxmlformats.org/officeDocument/2006/relationships/slide" Target="/ppt/slides/slide5.xml" Id="Rc539e2171f544a67" /><Relationship Type="http://schemas.openxmlformats.org/officeDocument/2006/relationships/slide" Target="/ppt/slides/slide6.xml" Id="R94bc9ada16a04d7f" /><Relationship Type="http://schemas.openxmlformats.org/officeDocument/2006/relationships/slide" Target="/ppt/slides/slide7.xml" Id="R824c545d13f74671" /><Relationship Type="http://schemas.openxmlformats.org/officeDocument/2006/relationships/slide" Target="/ppt/slides/slide8.xml" Id="Ra9dd65b18726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b80f60aaba4f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079932d6514066" /><Relationship Type="http://schemas.openxmlformats.org/officeDocument/2006/relationships/notesMaster" Target="/ppt/notesMasters/notesMaster1.xml" Id="Rb45702fa970641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3eab8a22fa48fd" /><Relationship Type="http://schemas.openxmlformats.org/officeDocument/2006/relationships/notesMaster" Target="/ppt/notesMasters/notesMaster1.xml" Id="R8d5295aba6d34a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b1fd2123246f8" /><Relationship Type="http://schemas.openxmlformats.org/officeDocument/2006/relationships/notesMaster" Target="/ppt/notesMasters/notesMaster1.xml" Id="R30c0149c021e49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7bfba66e534a2a" /><Relationship Type="http://schemas.openxmlformats.org/officeDocument/2006/relationships/notesMaster" Target="/ppt/notesMasters/notesMaster1.xml" Id="Ra535f7ced4fa4e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cfacea2b2d49a3" /><Relationship Type="http://schemas.openxmlformats.org/officeDocument/2006/relationships/notesMaster" Target="/ppt/notesMasters/notesMaster1.xml" Id="R6dc05872a5de4a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688b8308b5458b" /><Relationship Type="http://schemas.openxmlformats.org/officeDocument/2006/relationships/notesMaster" Target="/ppt/notesMasters/notesMaster1.xml" Id="R044a1fd49dda49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268ea0c5204c22" /><Relationship Type="http://schemas.openxmlformats.org/officeDocument/2006/relationships/notesMaster" Target="/ppt/notesMasters/notesMaster1.xml" Id="Rd94b9705fdef4a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bffedbd6c84dee" /><Relationship Type="http://schemas.openxmlformats.org/officeDocument/2006/relationships/notesMaster" Target="/ppt/notesMasters/notesMaster1.xml" Id="Rc64584df4ec541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9c34581dd49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e349b5142e4f56" /><Relationship Type="http://schemas.openxmlformats.org/officeDocument/2006/relationships/slideLayout" Target="/ppt/slideLayouts/slideLayout1.xml" Id="Rca1893a90ef848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1893a90ef848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3925d41394f36" /><Relationship Type="http://schemas.openxmlformats.org/officeDocument/2006/relationships/notesSlide" Target="/ppt/notesSlides/notesSlide1.xml" Id="R73f253ecfabf4c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ddc1b500f45d3" /><Relationship Type="http://schemas.openxmlformats.org/officeDocument/2006/relationships/notesSlide" Target="/ppt/notesSlides/notesSlide2.xml" Id="Ra9d2ab8c872a42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e780deffd4693" /><Relationship Type="http://schemas.openxmlformats.org/officeDocument/2006/relationships/notesSlide" Target="/ppt/notesSlides/notesSlide3.xml" Id="R123ca9cfd22d4c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ab467beeb4781" /><Relationship Type="http://schemas.openxmlformats.org/officeDocument/2006/relationships/notesSlide" Target="/ppt/notesSlides/notesSlide4.xml" Id="R585976fba4f64c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608ceac2d4fd2" /><Relationship Type="http://schemas.openxmlformats.org/officeDocument/2006/relationships/notesSlide" Target="/ppt/notesSlides/notesSlide5.xml" Id="Rbd0871d1622a4d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db165b27349b2" /><Relationship Type="http://schemas.openxmlformats.org/officeDocument/2006/relationships/notesSlide" Target="/ppt/notesSlides/notesSlide6.xml" Id="R2b468e39751f49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1ad1f312d4f4a" /><Relationship Type="http://schemas.openxmlformats.org/officeDocument/2006/relationships/notesSlide" Target="/ppt/notesSlides/notesSlide7.xml" Id="R757acc48a1cd4f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aaf9525fb48a6" /><Relationship Type="http://schemas.openxmlformats.org/officeDocument/2006/relationships/notesSlide" Target="/ppt/notesSlides/notesSlide8.xml" Id="R07ac815d9efb47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2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19C7ED-1681-4916-8119-0CD0400C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C3D"/>
          </a:solidFill>
          <a:ln xmlns:a="http://schemas.openxmlformats.org/drawingml/2006/main" w="9525">
            <a:solidFill>
              <a:srgbClr val="4A5C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D9D6D-0DB6-4249-9D25-534A4B8D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5C3D"/>
                </a:solidFill>
              </a:defRPr>
            </a:pPr>
            <a:r>
              <a:rPr sz="1050" b="1">
                <a:solidFill>
                  <a:srgbClr val="4A5C3D"/>
                </a:solidFill>
              </a:rPr>
              <a:t>AI INNOVATORS PATHWAY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93BEAA-07C3-45B4-88AA-106FAD78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33F49"/>
                </a:solidFill>
              </a:defRPr>
            </a:pPr>
            <a:r>
              <a:rPr sz="4200" b="1">
                <a:solidFill>
                  <a:srgbClr val="333F49"/>
                </a:solidFill>
              </a:rPr>
              <a:t>AI Entrepreneurship</a:t>
            </a:r>
          </a:p>
          <a:p xmlns:a="http://schemas.openxmlformats.org/drawingml/2006/main">
            <a:pPr algn="l">
              <a:defRPr sz="4200" b="1">
                <a:solidFill>
                  <a:srgbClr val="333F49"/>
                </a:solidFill>
              </a:defRPr>
            </a:pPr>
            <a:r>
              <a:rPr sz="4200" b="1">
                <a:solidFill>
                  <a:srgbClr val="333F49"/>
                </a:solidFill>
              </a:rPr>
              <a:t>and Innovation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29544-8C31-424C-B280-431CEED0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1F19"/>
                </a:solidFill>
              </a:defRPr>
            </a:pPr>
            <a:r>
              <a:rPr sz="1800" b="0">
                <a:solidFill>
                  <a:srgbClr val="241F19"/>
                </a:solidFill>
              </a:rPr>
              <a:t>[Solution name or one-sentence promise]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6884D-DC22-4EFC-80CD-BD9AB820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0C6AA-82D3-4F4D-A9BE-9C53400F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6058"/>
                </a:solidFill>
              </a:defRPr>
            </a:pPr>
            <a:r>
              <a:rPr sz="1500" b="0">
                <a:solidFill>
                  <a:srgbClr val="6B6058"/>
                </a:solidFill>
              </a:rPr>
              <a:t>[Names and roles]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FEC6B-103E-4DD4-824A-001424B1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047750"/>
            <a:ext cx="2333625" cy="40957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4E8DA"/>
          </a:solidFill>
          <a:ln xmlns:a="http://schemas.openxmlformats.org/drawingml/2006/main" w="9525">
            <a:solidFill>
              <a:srgbClr val="4A5C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931E2-EFF7-4D97-A787-B82BBEFC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71625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3F49"/>
                </a:solidFill>
              </a:defRPr>
            </a:pPr>
            <a:r>
              <a:rPr sz="2100" b="1">
                <a:solidFill>
                  <a:srgbClr val="333F49"/>
                </a:solidFill>
              </a:rPr>
              <a:t>PITCH</a:t>
            </a:r>
          </a:p>
          <a:p xmlns:a="http://schemas.openxmlformats.org/drawingml/2006/main">
            <a:pPr algn="ctr">
              <a:defRPr sz="2100" b="1">
                <a:solidFill>
                  <a:srgbClr val="333F49"/>
                </a:solidFill>
              </a:defRPr>
            </a:pPr>
            <a:r>
              <a:rPr sz="2100" b="1">
                <a:solidFill>
                  <a:srgbClr val="333F49"/>
                </a:solidFill>
              </a:rPr>
              <a:t>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70EA3-7ADF-4BE6-A31C-15F298B6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61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1F19"/>
                </a:solidFill>
              </a:defRPr>
            </a:pPr>
            <a:r>
              <a:rPr sz="1500" b="0">
                <a:solidFill>
                  <a:srgbClr val="241F19"/>
                </a:solidFill>
              </a:rPr>
              <a:t>Evidence</a:t>
            </a:r>
          </a:p>
          <a:p xmlns:a="http://schemas.openxmlformats.org/drawingml/2006/main">
            <a:pPr algn="ctr">
              <a:defRPr sz="1500" b="0">
                <a:solidFill>
                  <a:srgbClr val="241F19"/>
                </a:solidFill>
              </a:defRPr>
            </a:pPr>
            <a:r>
              <a:rPr sz="1500" b="0">
                <a:solidFill>
                  <a:srgbClr val="241F19"/>
                </a:solidFill>
              </a:rPr>
              <a:t>Value</a:t>
            </a:r>
          </a:p>
          <a:p xmlns:a="http://schemas.openxmlformats.org/drawingml/2006/main">
            <a:pPr algn="ctr">
              <a:defRPr sz="1500" b="0">
                <a:solidFill>
                  <a:srgbClr val="241F19"/>
                </a:solidFill>
              </a:defRPr>
            </a:pPr>
            <a:r>
              <a:rPr sz="1500" b="0">
                <a:solidFill>
                  <a:srgbClr val="241F19"/>
                </a:solidFill>
              </a:rPr>
              <a:t>Responsibility</a:t>
            </a:r>
          </a:p>
          <a:p xmlns:a="http://schemas.openxmlformats.org/drawingml/2006/main">
            <a:pPr algn="ctr">
              <a:defRPr sz="1500" b="0">
                <a:solidFill>
                  <a:srgbClr val="241F19"/>
                </a:solidFill>
              </a:defRPr>
            </a:pPr>
            <a:r>
              <a:rPr sz="1500" b="0">
                <a:solidFill>
                  <a:srgbClr val="241F19"/>
                </a:solidFill>
              </a:rPr>
              <a:t>Human accountability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99F14-D09E-4496-B8E2-F1D58466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58"/>
                </a:solidFill>
              </a:defRPr>
            </a:pPr>
            <a:r>
              <a:rPr sz="825" b="1">
                <a:solidFill>
                  <a:srgbClr val="6B6058"/>
                </a:solidFill>
              </a:rPr>
              <a:t>FUTURE READY AI  |  AI ENTREPRENEURSHIP AND INNOVATION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DB8C7-4C4A-4C1F-A179-7F448A54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A23E"/>
                </a:solidFill>
              </a:defRPr>
            </a:pPr>
            <a:r>
              <a:rPr sz="825" b="1">
                <a:solidFill>
                  <a:srgbClr val="D9A23E"/>
                </a:solidFill>
              </a:rPr>
              <a:t>Learn. Create. Lead.</a:t>
            </a:r>
          </a:p>
        </p:txBody>
      </p:sp>
    </p:spTree>
    <p:extLst>
      <p:ext uri="{BB962C8B-B14F-4D97-AF65-F5344CB8AC3E}">
        <p14:creationId xmlns:p14="http://schemas.microsoft.com/office/powerpoint/2010/main" val="20809167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82707F-E91F-4065-9A84-1F841748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5C3D"/>
                </a:solidFill>
              </a:defRPr>
            </a:pPr>
            <a:r>
              <a:rPr sz="975" b="1">
                <a:solidFill>
                  <a:srgbClr val="4A5C3D"/>
                </a:solidFill>
              </a:rPr>
              <a:t>PROBLEM WORTH SOLVING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46589430-77AD-4E8F-BE86-EEEF46A8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33F49"/>
                </a:solidFill>
              </a:defRPr>
            </a:pPr>
            <a:r>
              <a:rPr sz="2850" b="1">
                <a:solidFill>
                  <a:srgbClr val="333F49"/>
                </a:solidFill>
              </a:rPr>
              <a:t>A specific, consequential problem is worth solving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54FE9-7322-46F7-94C8-9165734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A23E"/>
                </a:solidFill>
              </a:defRPr>
            </a:pPr>
            <a:r>
              <a:rPr sz="1200" b="1">
                <a:solidFill>
                  <a:srgbClr val="D9A23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0EFC7-9A4F-463A-9A57-BC07D39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23E"/>
          </a:solidFill>
          <a:ln xmlns:a="http://schemas.openxmlformats.org/drawingml/2006/main" w="9525">
            <a:solidFill>
              <a:srgbClr val="D9A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9424F-75D1-49E4-A18B-46A9AB59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333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A178C-8E4A-4531-99D8-7FB0B41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PEOPLE 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2C651-F9BC-401D-8BAE-21A49895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9908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[Who experiences the problem? Where and when does it occur?]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F001D-3C78-46B9-B97C-BF3FB937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90700"/>
            <a:ext cx="72580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4E8DA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FD495-DDC6-4F77-86CE-F90213D4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691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PROBLEM AND IMPACT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30F9C-AE0F-4D85-B4A0-744726F2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69151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[What happens? Why does it matter? What is the cost, barrier, risk, or missed opportunity?]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FD31A-321C-4F52-B0E3-16D54562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9EDEF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95402-F8B5-4ED2-B686-3FA0CA49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A04CB-1A72-459F-A766-39D959E6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[Add 2-3 discovery data points. Separate what you observed from what you still assume.]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6C6C3-A396-4118-8E92-E3355E7F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58"/>
                </a:solidFill>
              </a:defRPr>
            </a:pPr>
            <a:r>
              <a:rPr sz="825" b="1">
                <a:solidFill>
                  <a:srgbClr val="6B6058"/>
                </a:solidFill>
              </a:rPr>
              <a:t>FUTURE READY AI  |  AI ENTREPRENEURSHIP AND INNOVATION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A65A9-14D6-4B4E-A42F-E94C9B10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A23E"/>
                </a:solidFill>
              </a:defRPr>
            </a:pPr>
            <a:r>
              <a:rPr sz="825" b="1">
                <a:solidFill>
                  <a:srgbClr val="D9A23E"/>
                </a:solidFill>
              </a:rPr>
              <a:t>Learn. Create. Lead.</a:t>
            </a:r>
          </a:p>
        </p:txBody>
      </p:sp>
    </p:spTree>
    <p:extLst>
      <p:ext uri="{BB962C8B-B14F-4D97-AF65-F5344CB8AC3E}">
        <p14:creationId xmlns:p14="http://schemas.microsoft.com/office/powerpoint/2010/main" val="649090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008E8-AB22-4F2E-A8D0-09EAE02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5C3D"/>
                </a:solidFill>
              </a:defRPr>
            </a:pPr>
            <a:r>
              <a:rPr sz="975" b="1">
                <a:solidFill>
                  <a:srgbClr val="4A5C3D"/>
                </a:solidFill>
              </a:rPr>
              <a:t>CUSTOMER AND COMMUNITY DISCOVERY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3DD8DCF-D06E-4C79-8782-3E9EB358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33F49"/>
                </a:solidFill>
              </a:defRPr>
            </a:pPr>
            <a:r>
              <a:rPr sz="2850" b="1">
                <a:solidFill>
                  <a:srgbClr val="333F49"/>
                </a:solidFill>
              </a:rPr>
              <a:t>Listening changed what we thought we knew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F944F-AD72-4DF7-8314-56D9C905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A23E"/>
                </a:solidFill>
              </a:defRPr>
            </a:pPr>
            <a:r>
              <a:rPr sz="1200" b="1">
                <a:solidFill>
                  <a:srgbClr val="D9A23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30087-690A-4011-B1A0-78A26CC2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23E"/>
          </a:solidFill>
          <a:ln xmlns:a="http://schemas.openxmlformats.org/drawingml/2006/main" w="9525">
            <a:solidFill>
              <a:srgbClr val="D9A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9F267-1DCE-47E8-AF80-B95563EF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19E48-3E52-4BA2-B86D-AB6E5276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WHAT PEOPLE DO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BF785-3883-4CF3-AE87-678A0C31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[Current workaround, behavior, or alternative]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3B5F2-646B-4CE7-81AC-5187FD40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9070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9EDEF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F3A53-E1E3-476C-903E-E59846C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NEEDS AND CONSTRAINTS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F40BA-CA63-4C91-ADAE-F4BDE343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[Desired outcome, barriers, access needs, and differences across stakeholders]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AE393-D837-40D1-8F67-E0CD983F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6957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4E8DA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DD3A3-6D69-4C19-AB24-37356CAF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KEY INSIGHT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4784B-648D-48D5-B35F-4F639416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335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[The evidence that most changed or challenged our assumption]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33A3D-DEB5-4D2D-B2A5-BFF27DAB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5C3D"/>
                </a:solidFill>
              </a:defRPr>
            </a:pPr>
            <a:r>
              <a:rPr sz="975" b="1">
                <a:solidFill>
                  <a:srgbClr val="4A5C3D"/>
                </a:solidFill>
              </a:rPr>
              <a:t>WHOSE PERSPECTIVE IS STILL MISSING?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8033E-59EF-4DC1-AD3D-D8454387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1F19"/>
                </a:solidFill>
              </a:defRPr>
            </a:pPr>
            <a:r>
              <a:rPr sz="1500" b="0">
                <a:solidFill>
                  <a:srgbClr val="241F19"/>
                </a:solidFill>
              </a:rPr>
              <a:t>[Name the group and how you would learn from them safely.]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0F620-C023-4B31-9C34-95F2FB1A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58"/>
                </a:solidFill>
              </a:defRPr>
            </a:pPr>
            <a:r>
              <a:rPr sz="825" b="1">
                <a:solidFill>
                  <a:srgbClr val="6B6058"/>
                </a:solidFill>
              </a:rPr>
              <a:t>FUTURE READY AI  |  AI ENTREPRENEURSHIP AND INNOVATION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C7270-91F1-439A-BA09-C405DEEE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A23E"/>
                </a:solidFill>
              </a:defRPr>
            </a:pPr>
            <a:r>
              <a:rPr sz="825" b="1">
                <a:solidFill>
                  <a:srgbClr val="D9A23E"/>
                </a:solidFill>
              </a:rPr>
              <a:t>Learn. Create. Lead.</a:t>
            </a:r>
          </a:p>
        </p:txBody>
      </p:sp>
    </p:spTree>
    <p:extLst>
      <p:ext uri="{BB962C8B-B14F-4D97-AF65-F5344CB8AC3E}">
        <p14:creationId xmlns:p14="http://schemas.microsoft.com/office/powerpoint/2010/main" val="1109623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8F00F-9248-45F2-86CE-0D3AA761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5C3D"/>
                </a:solidFill>
              </a:defRPr>
            </a:pPr>
            <a:r>
              <a:rPr sz="975" b="1">
                <a:solidFill>
                  <a:srgbClr val="4A5C3D"/>
                </a:solidFill>
              </a:rPr>
              <a:t>SOLUTION AND AI ROLE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9455BB2-63FB-4B29-8160-27C1DA98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33F49"/>
                </a:solidFill>
              </a:defRPr>
            </a:pPr>
            <a:r>
              <a:rPr sz="2850" b="1">
                <a:solidFill>
                  <a:srgbClr val="333F49"/>
                </a:solidFill>
              </a:rPr>
              <a:t>AI has one limited job—and people remain responsible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A3FEA-FCAC-44AB-8A4D-7AEE13A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A23E"/>
                </a:solidFill>
              </a:defRPr>
            </a:pPr>
            <a:r>
              <a:rPr sz="1200" b="1">
                <a:solidFill>
                  <a:srgbClr val="D9A23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3EFB8-D2D9-4109-B266-72219478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23E"/>
          </a:solidFill>
          <a:ln xmlns:a="http://schemas.openxmlformats.org/drawingml/2006/main" w="9525">
            <a:solidFill>
              <a:srgbClr val="D9A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6FDE1-534F-4B5C-8D91-FF4B2DB9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943100" cy="2190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9882E-7C0E-4A0D-9266-C6202122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A2C4A-0723-48CF-BF24-20E84A06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1600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[Necessary, appropriate information]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E3F81-3518-4349-AD3B-129ED103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1462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A23E"/>
                </a:solidFill>
              </a:defRPr>
            </a:pPr>
            <a:r>
              <a:rPr sz="1950" b="1">
                <a:solidFill>
                  <a:srgbClr val="D9A23E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7BBE4-F354-4148-A014-37E19D23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52625"/>
            <a:ext cx="1943100" cy="2190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4E8DA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0CA3A-5A8F-4BC9-B26B-D0EC84C9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0502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AI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70254-C659-4076-B983-AD326A09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9825"/>
            <a:ext cx="1600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[Pattern, prediction, recommendation, classification, or generation]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D4DDC-0172-40A2-B4B5-BA8B9F3A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1462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A23E"/>
                </a:solidFill>
              </a:defRPr>
            </a:pPr>
            <a:r>
              <a:rPr sz="1950" b="1">
                <a:solidFill>
                  <a:srgbClr val="D9A23E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861D14-D888-4A97-AA99-828577A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1943100" cy="2190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9EDEF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20C3E-0BBB-4E97-B6A2-0ED5FEA3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0502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436ED-B4C2-4B5D-83F3-92B4FCD1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9825"/>
            <a:ext cx="1600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[What the system produces]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DF068-67D6-4C65-A065-2EEABFFE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1462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A23E"/>
                </a:solidFill>
              </a:defRPr>
            </a:pPr>
            <a:r>
              <a:rPr sz="1950" b="1">
                <a:solidFill>
                  <a:srgbClr val="D9A23E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78635E-442E-4996-BB1C-73B3DE6E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52625"/>
            <a:ext cx="1943100" cy="2190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4DD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426C0-D595-4B5C-8065-FC49EA3E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0502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HUMAN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158520-8672-462D-9757-9669A6B2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9825"/>
            <a:ext cx="1600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[How the result is checked, challenged, or corrected]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18BB10-AB2A-430A-BF7A-5EE96383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19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A23E"/>
                </a:solidFill>
              </a:defRPr>
            </a:pPr>
            <a:r>
              <a:rPr sz="1950" b="1">
                <a:solidFill>
                  <a:srgbClr val="D9A23E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DDA7D3-F5C3-4FE0-80F8-479FD8A3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52625"/>
            <a:ext cx="1943100" cy="2190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D7FBBE-D31E-4416-AD33-C0A7993F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05025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A6463-FFEA-4CAA-82C8-0EDC1581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9825"/>
            <a:ext cx="1600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[What a person decides or does]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B07C8-B82F-4E88-BF29-6FB426BE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2197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2AD71-0494-44DD-94E6-FD9A1B9C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WHY AI—NOT A SIMPLER OPTION?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E43759-BBC0-4111-B828-6C1158C5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4876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[Name the non-AI alternative you considered and why this limited AI role adds value.]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EBFB8-B1AE-47C7-9084-57814D1B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95800"/>
            <a:ext cx="53721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8484C7-1305-4040-98C5-4104C9F9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48200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LIMITS AND FALLBACK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C0FB85-4FB7-425D-AFFD-CE94B1B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53000"/>
            <a:ext cx="5029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[What could be wrong? What must never be decided alone? What happens if AI is unavailable?]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233037-3718-49BD-BB6A-269953EB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58"/>
                </a:solidFill>
              </a:defRPr>
            </a:pPr>
            <a:r>
              <a:rPr sz="825" b="1">
                <a:solidFill>
                  <a:srgbClr val="6B6058"/>
                </a:solidFill>
              </a:rPr>
              <a:t>FUTURE READY AI  |  AI ENTREPRENEURSHIP AND INNOVATION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B2D05-87AA-424C-861D-A1646039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A23E"/>
                </a:solidFill>
              </a:defRPr>
            </a:pPr>
            <a:r>
              <a:rPr sz="825" b="1">
                <a:solidFill>
                  <a:srgbClr val="D9A23E"/>
                </a:solidFill>
              </a:rPr>
              <a:t>Learn. Create. Lead.</a:t>
            </a:r>
          </a:p>
        </p:txBody>
      </p:sp>
    </p:spTree>
    <p:extLst>
      <p:ext uri="{BB962C8B-B14F-4D97-AF65-F5344CB8AC3E}">
        <p14:creationId xmlns:p14="http://schemas.microsoft.com/office/powerpoint/2010/main" val="1616598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2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DB117-CF58-49DE-8621-7F271AB0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5C3D"/>
                </a:solidFill>
              </a:defRPr>
            </a:pPr>
            <a:r>
              <a:rPr sz="975" b="1">
                <a:solidFill>
                  <a:srgbClr val="4A5C3D"/>
                </a:solidFill>
              </a:rPr>
              <a:t>VALUE PROPOSITION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35C755A9-2AD8-448A-9276-01B9CBA2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33F49"/>
                </a:solidFill>
              </a:defRPr>
            </a:pPr>
            <a:r>
              <a:rPr sz="2850" b="1">
                <a:solidFill>
                  <a:srgbClr val="333F49"/>
                </a:solidFill>
              </a:rPr>
              <a:t>The value is an outcome people care about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7FCF9-C65B-4C9C-B4F2-7B599FE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A23E"/>
                </a:solidFill>
              </a:defRPr>
            </a:pPr>
            <a:r>
              <a:rPr sz="1200" b="1">
                <a:solidFill>
                  <a:srgbClr val="D9A23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09374-9E0F-48EA-A3C5-8544707C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23E"/>
          </a:solidFill>
          <a:ln xmlns:a="http://schemas.openxmlformats.org/drawingml/2006/main" w="9525">
            <a:solidFill>
              <a:srgbClr val="D9A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366D7-B7AB-4D8E-ACEB-D0B8AE5E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A23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E72A4-0E11-41AC-94B0-5734D986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C3D"/>
                </a:solidFill>
              </a:defRPr>
            </a:pPr>
            <a:r>
              <a:rPr sz="1350" b="1">
                <a:solidFill>
                  <a:srgbClr val="4A5C3D"/>
                </a:solidFill>
              </a:rPr>
              <a:t>FOR [SPECIFIC PEOPLE] WHO [NEED / PROBLEM],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B0CA0-ADC0-4343-8325-0BE3EE08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3F49"/>
                </a:solidFill>
              </a:defRPr>
            </a:pPr>
            <a:r>
              <a:rPr sz="2100" b="1">
                <a:solidFill>
                  <a:srgbClr val="333F49"/>
                </a:solidFill>
              </a:rPr>
              <a:t>our [solution] helps them [meaningful benefit] by [how], unlike [current alternative].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FC009-FD1A-45BE-B7C1-296C8373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A594C-EAE0-4CEB-97E6-00CA2E83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CLEAR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A4207-9A30-4CDB-A4FF-7426EC29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[Can a listener explain it?]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765C5-5DFC-44E2-BAA3-854165B3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05250"/>
            <a:ext cx="3333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479CD-8344-4ACB-8422-7A398D31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57650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CREDIBLE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E3797-AC8C-442D-9EAD-68A22E76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62450"/>
            <a:ext cx="2990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[What discovery evidence supports it?]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974A2-97E2-4ACD-B1DE-2AE9B37D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3695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9B57A-8352-4E6F-B01C-6D8C1187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57650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COMPELLING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DDD66-F2D0-4957-A351-75342989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62450"/>
            <a:ext cx="335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[Why does the outcome matter?]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E123C-C7B6-4149-9979-886A58C8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58"/>
                </a:solidFill>
              </a:defRPr>
            </a:pPr>
            <a:r>
              <a:rPr sz="825" b="1">
                <a:solidFill>
                  <a:srgbClr val="6B6058"/>
                </a:solidFill>
              </a:rPr>
              <a:t>FUTURE READY AI  |  AI ENTREPRENEURSHIP AND INNOVATION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F1A0C-9060-407E-BE34-F639F9C5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A23E"/>
                </a:solidFill>
              </a:defRPr>
            </a:pPr>
            <a:r>
              <a:rPr sz="825" b="1">
                <a:solidFill>
                  <a:srgbClr val="D9A23E"/>
                </a:solidFill>
              </a:rPr>
              <a:t>Learn. Create. Lead.</a:t>
            </a:r>
          </a:p>
        </p:txBody>
      </p:sp>
    </p:spTree>
    <p:extLst>
      <p:ext uri="{BB962C8B-B14F-4D97-AF65-F5344CB8AC3E}">
        <p14:creationId xmlns:p14="http://schemas.microsoft.com/office/powerpoint/2010/main" val="1452966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DD49C7-0222-4D9F-8547-B49023EA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5C3D"/>
                </a:solidFill>
              </a:defRPr>
            </a:pPr>
            <a:r>
              <a:rPr sz="975" b="1">
                <a:solidFill>
                  <a:srgbClr val="4A5C3D"/>
                </a:solidFill>
              </a:rPr>
              <a:t>BUSINESS OR COMMUNITY MODEL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A5D401F-A971-4C52-A765-AEBEEBEC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33F49"/>
                </a:solidFill>
              </a:defRPr>
            </a:pPr>
            <a:r>
              <a:rPr sz="2850" b="1">
                <a:solidFill>
                  <a:srgbClr val="333F49"/>
                </a:solidFill>
              </a:rPr>
              <a:t>The model delivers and sustains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56205-258F-4FDA-AA18-8EA400FD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A23E"/>
                </a:solidFill>
              </a:defRPr>
            </a:pPr>
            <a:r>
              <a:rPr sz="1200" b="1">
                <a:solidFill>
                  <a:srgbClr val="D9A23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16C72-731F-460C-8967-DEF057F7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23E"/>
          </a:solidFill>
          <a:ln xmlns:a="http://schemas.openxmlformats.org/drawingml/2006/main" w="9525">
            <a:solidFill>
              <a:srgbClr val="D9A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A9204-8B05-4040-8F0B-0F08AAD0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19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6B4D1-2CCE-4819-BFF5-D3690554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WHO AND HOW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AE255-0C0A-44E8-ADEF-9089E9B5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876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[Users, customers, beneficiaries, channels, and engagement]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DFA6D-670F-4270-BAE8-662F1D43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5372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4E8DA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32FB4-B962-4A28-91C2-16FE8AEA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62150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PARTNERS AND RESOURCES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CA8D1-C235-4597-BF23-32AC3B04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66950"/>
            <a:ext cx="5029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[People, expertise, data, technology, permissions, and relationships]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B6AFC-F6E8-4559-9AF2-15742290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2197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DEF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12269-2064-4FDA-885A-5F20DE5F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487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COSTS AND SUSTAINABILITY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E2F22-7E33-471D-950D-8964E323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4876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[What must be funded or maintained? Revenue, sponsorship, school/community support, or service model?]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DAACA-1929-4641-955C-280E684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53721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E4DD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6762B-04EB-4DA6-BC7A-648E988B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29025"/>
            <a:ext cx="502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SUCCESS MEASURES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04C9C-2E9C-4888-9377-CCA6FBF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33825"/>
            <a:ext cx="5029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[How will you know it is useful, fair, safe, accessible, and sustainable?]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0D119-8650-4175-BA2A-04B762B2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RISKIEST ASSUMPTION + SMALLEST LOW-COST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BDCEB-FD31-4AFE-A4B0-64C935B4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1F19"/>
                </a:solidFill>
              </a:defRPr>
            </a:pPr>
            <a:r>
              <a:rPr sz="1425" b="0">
                <a:solidFill>
                  <a:srgbClr val="241F19"/>
                </a:solidFill>
              </a:rPr>
              <a:t>[What must you learn next?]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CA95C-0A90-4C13-A690-0FDCA7A5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58"/>
                </a:solidFill>
              </a:defRPr>
            </a:pPr>
            <a:r>
              <a:rPr sz="825" b="1">
                <a:solidFill>
                  <a:srgbClr val="6B6058"/>
                </a:solidFill>
              </a:rPr>
              <a:t>FUTURE READY AI  |  AI ENTREPRENEURSHIP AND INNOVATION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35AE9-3A4C-41AE-B524-49D1C219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A23E"/>
                </a:solidFill>
              </a:defRPr>
            </a:pPr>
            <a:r>
              <a:rPr sz="825" b="1">
                <a:solidFill>
                  <a:srgbClr val="D9A23E"/>
                </a:solidFill>
              </a:rPr>
              <a:t>Learn. Create. Lead.</a:t>
            </a:r>
          </a:p>
        </p:txBody>
      </p:sp>
    </p:spTree>
    <p:extLst>
      <p:ext uri="{BB962C8B-B14F-4D97-AF65-F5344CB8AC3E}">
        <p14:creationId xmlns:p14="http://schemas.microsoft.com/office/powerpoint/2010/main" val="609259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FA93CD-5CE5-4BDC-B810-52832A2A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5C3D"/>
                </a:solidFill>
              </a:defRPr>
            </a:pPr>
            <a:r>
              <a:rPr sz="975" b="1">
                <a:solidFill>
                  <a:srgbClr val="4A5C3D"/>
                </a:solidFill>
              </a:rPr>
              <a:t>RESPONSIBLE INNOVATION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1DFC1F9-FF13-462C-9BCD-79AA27A3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33F49"/>
                </a:solidFill>
              </a:defRPr>
            </a:pPr>
            <a:r>
              <a:rPr sz="2850" b="1">
                <a:solidFill>
                  <a:srgbClr val="333F49"/>
                </a:solidFill>
              </a:rPr>
              <a:t>Safeguards change the design—not just the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46BF5-A64D-4B8A-8806-6B56B768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A23E"/>
                </a:solidFill>
              </a:defRPr>
            </a:pPr>
            <a:r>
              <a:rPr sz="1200" b="1">
                <a:solidFill>
                  <a:srgbClr val="D9A23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2712E-6A46-4DB9-9785-F37F0BE3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23E"/>
          </a:solidFill>
          <a:ln xmlns:a="http://schemas.openxmlformats.org/drawingml/2006/main" w="9525">
            <a:solidFill>
              <a:srgbClr val="D9A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5429E-C366-4985-875A-DDF56487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28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E4DD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1F0EB-8FAD-4006-B216-0696AB19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5C3D"/>
                </a:solidFill>
              </a:defRPr>
            </a:pPr>
            <a:r>
              <a:rPr sz="1050" b="1">
                <a:solidFill>
                  <a:srgbClr val="4A5C3D"/>
                </a:solidFill>
              </a:rPr>
              <a:t>TOP RISKS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C76E6-E8A6-4BAF-BE9D-0FF10134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859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[Privacy]  [Bias/fairness]  [Access]  [Harm/misuse]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E2B42-6051-4B0A-9E0B-AD949531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228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D86B7-B81A-48EB-89EA-51842A7A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5C3D"/>
                </a:solidFill>
              </a:defRPr>
            </a:pPr>
            <a:r>
              <a:rPr sz="1050" b="1">
                <a:solidFill>
                  <a:srgbClr val="4A5C3D"/>
                </a:solidFill>
              </a:rPr>
              <a:t>DESIGN SAFEGUARDS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2638A-D1B5-4358-B0C6-75C2ABA5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8607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[Data minimization, inclusive testing, accessibility, disclosure, verification, monitoring]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1272F-1198-416B-B0AF-6B8A95DF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28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5424C-C485-4BA3-8E50-19341FB2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5C3D"/>
                </a:solidFill>
              </a:defRPr>
            </a:pPr>
            <a:r>
              <a:rPr sz="1050" b="1">
                <a:solidFill>
                  <a:srgbClr val="4A5C3D"/>
                </a:solidFill>
              </a:rPr>
              <a:t>HUMAN ACCOUNTABILITY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EEFDAB-6ADC-4FAC-AB4C-48C9E833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8620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[Named role with information, authority, override, escalation, and documentation]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7F015-0917-49CA-A4C4-D8BBD2CB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28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99B0B-9A37-4958-B92B-DF52DBBB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5C3D"/>
                </a:solidFill>
              </a:defRPr>
            </a:pPr>
            <a:r>
              <a:rPr sz="1050" b="1">
                <a:solidFill>
                  <a:srgbClr val="4A5C3D"/>
                </a:solidFill>
              </a:rPr>
              <a:t>APPEAL +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5CED8-FFBB-402A-B429-86949088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86325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[How a person questions a result, gets help, corrects harm, or uses a non-AI option]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6BB22D-FE2D-42E9-B0CA-D6584C6F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4E8DA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95D4F-A7D4-415D-A80A-17C080B2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LAUNCH CONDITION / STOP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CCCE5-C611-4259-8AA8-5137B201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578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1F19"/>
                </a:solidFill>
              </a:defRPr>
            </a:pPr>
            <a:r>
              <a:rPr sz="1275" b="0">
                <a:solidFill>
                  <a:srgbClr val="241F19"/>
                </a:solidFill>
              </a:rPr>
              <a:t>[What must be true before further testing? What would make you pause, limit, or remove the feature?]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506E5-E6D4-4831-BBB0-B78FAF7F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58"/>
                </a:solidFill>
              </a:defRPr>
            </a:pPr>
            <a:r>
              <a:rPr sz="825" b="1">
                <a:solidFill>
                  <a:srgbClr val="6B6058"/>
                </a:solidFill>
              </a:rPr>
              <a:t>FUTURE READY AI  |  AI ENTREPRENEURSHIP AND INNOVATION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4F49B-BECD-40F5-9503-FB2496E0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A23E"/>
                </a:solidFill>
              </a:defRPr>
            </a:pPr>
            <a:r>
              <a:rPr sz="825" b="1">
                <a:solidFill>
                  <a:srgbClr val="D9A23E"/>
                </a:solidFill>
              </a:rPr>
              <a:t>Learn. Create. Lead.</a:t>
            </a:r>
          </a:p>
        </p:txBody>
      </p:sp>
    </p:spTree>
    <p:extLst>
      <p:ext uri="{BB962C8B-B14F-4D97-AF65-F5344CB8AC3E}">
        <p14:creationId xmlns:p14="http://schemas.microsoft.com/office/powerpoint/2010/main" val="18698680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EFF95B-4595-4406-BCE6-9BDEBD21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5C3D"/>
                </a:solidFill>
              </a:defRPr>
            </a:pPr>
            <a:r>
              <a:rPr sz="975" b="1">
                <a:solidFill>
                  <a:srgbClr val="4A5C3D"/>
                </a:solidFill>
              </a:rPr>
              <a:t>PROTOTYPE, LEARNING, AND ASK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41AB346-37F4-44B7-8E0F-564A9D4A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33F49"/>
                </a:solidFill>
              </a:defRPr>
            </a:pPr>
            <a:r>
              <a:rPr sz="2850" b="1">
                <a:solidFill>
                  <a:srgbClr val="333F49"/>
                </a:solidFill>
              </a:rPr>
              <a:t>The prototype points to a responsible next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01F1D-9B0E-4CB7-9A5F-232B15D1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A23E"/>
                </a:solidFill>
              </a:defRPr>
            </a:pPr>
            <a:r>
              <a:rPr sz="1200" b="1">
                <a:solidFill>
                  <a:srgbClr val="D9A23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D68FD-0037-4431-92AB-CE902EE3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23E"/>
          </a:solidFill>
          <a:ln xmlns:a="http://schemas.openxmlformats.org/drawingml/2006/main" w="9525">
            <a:solidFill>
              <a:srgbClr val="D9A2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3000F-8861-49CD-A606-B0787197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387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E9EDEF"/>
          </a:solidFill>
          <a:ln xmlns:a="http://schemas.openxmlformats.org/drawingml/2006/main" w="9525">
            <a:solidFill>
              <a:srgbClr val="4A5C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7382D-FE44-4149-99A9-0A8F668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33F49"/>
                </a:solidFill>
              </a:defRPr>
            </a:pPr>
            <a:r>
              <a:rPr sz="1950" b="1">
                <a:solidFill>
                  <a:srgbClr val="333F49"/>
                </a:solidFill>
              </a:rPr>
              <a:t>ADD PROTOTYPE IMAGE,</a:t>
            </a:r>
          </a:p>
          <a:p xmlns:a="http://schemas.openxmlformats.org/drawingml/2006/main">
            <a:pPr algn="ctr">
              <a:defRPr sz="1950" b="1">
                <a:solidFill>
                  <a:srgbClr val="333F49"/>
                </a:solidFill>
              </a:defRPr>
            </a:pPr>
            <a:r>
              <a:rPr sz="1950" b="1">
                <a:solidFill>
                  <a:srgbClr val="333F49"/>
                </a:solidFill>
              </a:rPr>
              <a:t>STORYBOARD, OR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C2B40-481B-4B96-A870-0EDA9DE8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4362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B6058"/>
                </a:solidFill>
              </a:defRPr>
            </a:pPr>
            <a:r>
              <a:rPr sz="1275" b="0">
                <a:solidFill>
                  <a:srgbClr val="6B6058"/>
                </a:solidFill>
              </a:rPr>
              <a:t>[Show what the prototype demonstrates—and what it does not prove.]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E992B-D196-4C28-8456-BCE7A008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27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BCB78-2B8E-4FAA-962F-85A2437E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WHAT WE TESTED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A98E5-99D1-41C4-A47A-970AC240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[Who interacted with it? What did we observe?]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65107-7686-48B7-8222-3D8A229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527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4E8DA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E7FFD8-B95A-4CFD-8C5A-F514D2C0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WHAT CHANGED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FC2964-372D-4E84-8E29-111B1F89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[One revision made because of evidence or feedback]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F8C9E-A4BC-424D-B6BE-B9FF682E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52768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4DD"/>
          </a:solidFill>
          <a:ln xmlns:a="http://schemas.openxmlformats.org/drawingml/2006/main" w="9525">
            <a:solidFill>
              <a:srgbClr val="E6DA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B2E9D-2AC5-4532-9383-E133F896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A5C3D"/>
                </a:solidFill>
              </a:defRPr>
            </a:pPr>
            <a:r>
              <a:rPr sz="900" b="1">
                <a:solidFill>
                  <a:srgbClr val="4A5C3D"/>
                </a:solidFill>
              </a:rPr>
              <a:t>OUR NEXT STEP / 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EC61B-20DB-4115-91C1-8DD2D8C0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4933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F19"/>
                </a:solidFill>
              </a:defRPr>
            </a:pPr>
            <a:r>
              <a:rPr sz="1350" b="0">
                <a:solidFill>
                  <a:srgbClr val="241F19"/>
                </a:solidFill>
              </a:rPr>
              <a:t>[A small responsible test, partner, resource, permission, or feedback request]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D5C063-5AB3-45F6-A27E-FE84F202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3F49"/>
                </a:solidFill>
              </a:defRPr>
            </a:pPr>
            <a:r>
              <a:rPr sz="1575" b="1">
                <a:solidFill>
                  <a:srgbClr val="333F49"/>
                </a:solidFill>
              </a:rPr>
              <a:t>FINAL LINE: [AI supports ____. People remain responsible for ____.]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8ED77-414B-4D54-ADE6-7619D2F4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6058"/>
                </a:solidFill>
              </a:defRPr>
            </a:pPr>
            <a:r>
              <a:rPr sz="825" b="1">
                <a:solidFill>
                  <a:srgbClr val="6B6058"/>
                </a:solidFill>
              </a:rPr>
              <a:t>FUTURE READY AI  |  AI ENTREPRENEURSHIP AND INNOVATION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594D2-5800-4344-ADC5-5CCF1D9A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A23E"/>
                </a:solidFill>
              </a:defRPr>
            </a:pPr>
            <a:r>
              <a:rPr sz="825" b="1">
                <a:solidFill>
                  <a:srgbClr val="D9A23E"/>
                </a:solidFill>
              </a:rPr>
              <a:t>Learn. Create. Lead.</a:t>
            </a:r>
          </a:p>
        </p:txBody>
      </p:sp>
    </p:spTree>
    <p:extLst>
      <p:ext uri="{BB962C8B-B14F-4D97-AF65-F5344CB8AC3E}">
        <p14:creationId xmlns:p14="http://schemas.microsoft.com/office/powerpoint/2010/main" val="1384507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2026-07-31T00:35:39.3470000Z</dcterms:created>
  <dcterms:modified xsi:type="dcterms:W3CDTF">2026-07-31T00:35:39.3470000Z</dcterms:modified>
</coreProperties>
</file>